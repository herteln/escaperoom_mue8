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7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087DB3"/>
    <a:srgbClr val="00B1DB"/>
    <a:srgbClr val="339933"/>
    <a:srgbClr val="FF5D02"/>
    <a:srgbClr val="0B5F9F"/>
    <a:srgbClr val="7FD8ED"/>
    <a:srgbClr val="8FCE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3140" autoAdjust="0"/>
  </p:normalViewPr>
  <p:slideViewPr>
    <p:cSldViewPr snapToGrid="0">
      <p:cViewPr varScale="1">
        <p:scale>
          <a:sx n="103" d="100"/>
          <a:sy n="103" d="100"/>
        </p:scale>
        <p:origin x="9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5EAD8-83A8-4C56-BACB-F92A383A4BA9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6A392-C700-4487-9087-D0A298F7E8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263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0"/>
          <a:stretch/>
        </p:blipFill>
        <p:spPr>
          <a:xfrm>
            <a:off x="0" y="-25292"/>
            <a:ext cx="12192000" cy="6896099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982" y="3525292"/>
            <a:ext cx="2121412" cy="278578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433064"/>
            <a:ext cx="8915400" cy="1325563"/>
          </a:xfrm>
          <a:prstGeom prst="rect">
            <a:avLst/>
          </a:prstGeom>
        </p:spPr>
        <p:txBody>
          <a:bodyPr lIns="0" rIns="0"/>
          <a:lstStyle>
            <a:lvl1pPr>
              <a:defRPr b="1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1"/>
          </p:nvPr>
        </p:nvSpPr>
        <p:spPr>
          <a:xfrm>
            <a:off x="838200" y="3867150"/>
            <a:ext cx="8915400" cy="24431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+mn-lt"/>
                <a:cs typeface="Arial" panose="020B0604020202020204" pitchFamily="34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0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60766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5"/>
          <a:stretch/>
        </p:blipFill>
        <p:spPr>
          <a:xfrm>
            <a:off x="0" y="-27710"/>
            <a:ext cx="12192000" cy="6885709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9022" y="4457700"/>
            <a:ext cx="1411371" cy="1853374"/>
          </a:xfrm>
          <a:prstGeom prst="rect">
            <a:avLst/>
          </a:prstGeom>
        </p:spPr>
      </p:pic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838200" y="2433064"/>
            <a:ext cx="8915400" cy="1325563"/>
          </a:xfrm>
          <a:prstGeom prst="rect">
            <a:avLst/>
          </a:prstGeom>
        </p:spPr>
        <p:txBody>
          <a:bodyPr lIns="0" rIns="0"/>
          <a:lstStyle>
            <a:lvl1pPr>
              <a:defRPr b="1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Textplatzhalter 14"/>
          <p:cNvSpPr>
            <a:spLocks noGrp="1"/>
          </p:cNvSpPr>
          <p:nvPr>
            <p:ph type="body" sz="quarter" idx="11"/>
          </p:nvPr>
        </p:nvSpPr>
        <p:spPr>
          <a:xfrm>
            <a:off x="838200" y="3867150"/>
            <a:ext cx="8915400" cy="24431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+mn-lt"/>
                <a:cs typeface="Arial" panose="020B0604020202020204" pitchFamily="34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0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52806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838200" y="1613914"/>
            <a:ext cx="8915400" cy="1325563"/>
          </a:xfrm>
          <a:prstGeom prst="rect">
            <a:avLst/>
          </a:prstGeom>
        </p:spPr>
        <p:txBody>
          <a:bodyPr lIns="0" tIns="0" rIns="0" bIns="90000" anchor="b"/>
          <a:lstStyle>
            <a:lvl1pPr>
              <a:defRPr b="1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14"/>
          <p:cNvSpPr>
            <a:spLocks noGrp="1"/>
          </p:cNvSpPr>
          <p:nvPr>
            <p:ph type="body" sz="quarter" idx="11"/>
          </p:nvPr>
        </p:nvSpPr>
        <p:spPr>
          <a:xfrm>
            <a:off x="838200" y="3048000"/>
            <a:ext cx="8915400" cy="2443163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4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20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800">
                <a:solidFill>
                  <a:srgbClr val="5A5A5A"/>
                </a:solidFill>
                <a:latin typeface="MetaNormal-Roman" panose="020B0502030101020104" pitchFamily="34" charset="0"/>
              </a:defRPr>
            </a:lvl4pPr>
            <a:lvl5pPr>
              <a:defRPr sz="1800">
                <a:solidFill>
                  <a:srgbClr val="5A5A5A"/>
                </a:solidFill>
                <a:latin typeface="MetaNormal-Roman" panose="020B05020301010201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7" name="Fußzeilenplatzhalter 8"/>
          <p:cNvSpPr>
            <a:spLocks noGrp="1"/>
          </p:cNvSpPr>
          <p:nvPr>
            <p:ph type="ftr" sz="quarter" idx="3"/>
          </p:nvPr>
        </p:nvSpPr>
        <p:spPr>
          <a:xfrm>
            <a:off x="1169895" y="6407121"/>
            <a:ext cx="44974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400">
                <a:solidFill>
                  <a:srgbClr val="00B1DB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Hochschule Wismar | Fakultät für Ingenieurwissenschaften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8610600" y="6407121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400">
                <a:solidFill>
                  <a:srgbClr val="00B1DB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17.07.2026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56386"/>
            <a:ext cx="8915400" cy="427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 typeface="Arial" panose="020B0604020202020204" pitchFamily="34" charset="0"/>
              <a:buNone/>
              <a:defRPr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de-DE" dirty="0"/>
              <a:t>Auskundschaften von Informationen/ OSINT-Recherche</a:t>
            </a:r>
          </a:p>
        </p:txBody>
      </p:sp>
    </p:spTree>
    <p:extLst>
      <p:ext uri="{BB962C8B-B14F-4D97-AF65-F5344CB8AC3E}">
        <p14:creationId xmlns:p14="http://schemas.microsoft.com/office/powerpoint/2010/main" val="219444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838200" y="717454"/>
            <a:ext cx="8915400" cy="788627"/>
          </a:xfrm>
          <a:prstGeom prst="rect">
            <a:avLst/>
          </a:prstGeom>
        </p:spPr>
        <p:txBody>
          <a:bodyPr lIns="0" tIns="0" rIns="0" bIns="90000" anchor="b"/>
          <a:lstStyle>
            <a:lvl1pPr>
              <a:defRPr b="1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14"/>
          <p:cNvSpPr>
            <a:spLocks noGrp="1"/>
          </p:cNvSpPr>
          <p:nvPr>
            <p:ph type="body" sz="quarter" idx="11"/>
          </p:nvPr>
        </p:nvSpPr>
        <p:spPr>
          <a:xfrm>
            <a:off x="838200" y="1715268"/>
            <a:ext cx="8915400" cy="2443163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4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20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800">
                <a:solidFill>
                  <a:srgbClr val="5A5A5A"/>
                </a:solidFill>
                <a:latin typeface="MetaNormal-Roman" panose="020B0502030101020104" pitchFamily="34" charset="0"/>
              </a:defRPr>
            </a:lvl4pPr>
            <a:lvl5pPr>
              <a:defRPr sz="1800">
                <a:solidFill>
                  <a:srgbClr val="5A5A5A"/>
                </a:solidFill>
                <a:latin typeface="MetaNormal-Roman" panose="020B05020301010201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7" name="Fußzeilenplatzhalter 8"/>
          <p:cNvSpPr>
            <a:spLocks noGrp="1"/>
          </p:cNvSpPr>
          <p:nvPr>
            <p:ph type="ftr" sz="quarter" idx="3"/>
          </p:nvPr>
        </p:nvSpPr>
        <p:spPr>
          <a:xfrm>
            <a:off x="1169895" y="6407121"/>
            <a:ext cx="44974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400">
                <a:solidFill>
                  <a:srgbClr val="00B1DB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Hochschule Wismar | Fakultät für Ingenieurwissenschaften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8610600" y="6407121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400">
                <a:solidFill>
                  <a:srgbClr val="00B1DB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17.07.2026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56386"/>
            <a:ext cx="8915400" cy="427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 typeface="Arial" panose="020B0604020202020204" pitchFamily="34" charset="0"/>
              <a:buNone/>
              <a:defRPr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de-DE" dirty="0"/>
              <a:t>Auskundschaften von Informationen/ OSINT-Recherche</a:t>
            </a:r>
          </a:p>
        </p:txBody>
      </p:sp>
    </p:spTree>
    <p:extLst>
      <p:ext uri="{BB962C8B-B14F-4D97-AF65-F5344CB8AC3E}">
        <p14:creationId xmlns:p14="http://schemas.microsoft.com/office/powerpoint/2010/main" val="144764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ßzeilenplatzhalter 8"/>
          <p:cNvSpPr>
            <a:spLocks noGrp="1"/>
          </p:cNvSpPr>
          <p:nvPr>
            <p:ph type="ftr" sz="quarter" idx="3"/>
          </p:nvPr>
        </p:nvSpPr>
        <p:spPr>
          <a:xfrm>
            <a:off x="1169895" y="6407121"/>
            <a:ext cx="44974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400">
                <a:solidFill>
                  <a:srgbClr val="00B1DB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Hochschule Wismar | Fakultät für Ingenieurwissenschaften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8610600" y="6407121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400">
                <a:solidFill>
                  <a:srgbClr val="00B1DB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17.07.2026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lIns="0"/>
          <a:lstStyle>
            <a:lvl1pPr>
              <a:defRPr sz="28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4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20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3pPr>
            <a:lvl4pPr>
              <a:defRPr>
                <a:solidFill>
                  <a:srgbClr val="5A5A5A"/>
                </a:solidFill>
              </a:defRPr>
            </a:lvl4pPr>
            <a:lvl5pPr>
              <a:defRPr>
                <a:solidFill>
                  <a:srgbClr val="5A5A5A"/>
                </a:solidFill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Inhaltsplatzhalter 3"/>
          <p:cNvSpPr>
            <a:spLocks noGrp="1"/>
          </p:cNvSpPr>
          <p:nvPr>
            <p:ph sz="half" idx="10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0"/>
          <a:lstStyle>
            <a:lvl1pPr>
              <a:defRPr sz="28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24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2000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3pPr>
            <a:lvl4pPr>
              <a:defRPr>
                <a:solidFill>
                  <a:srgbClr val="5A5A5A"/>
                </a:solidFill>
              </a:defRPr>
            </a:lvl4pPr>
            <a:lvl5pPr>
              <a:defRPr>
                <a:solidFill>
                  <a:srgbClr val="5A5A5A"/>
                </a:solidFill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838200" y="900953"/>
            <a:ext cx="10515600" cy="830543"/>
          </a:xfrm>
          <a:prstGeom prst="rect">
            <a:avLst/>
          </a:prstGeom>
        </p:spPr>
        <p:txBody>
          <a:bodyPr lIns="0" tIns="0" rIns="0" bIns="90000" anchor="b"/>
          <a:lstStyle>
            <a:lvl1pPr>
              <a:defRPr b="1">
                <a:solidFill>
                  <a:srgbClr val="5A5A5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838200" y="156386"/>
            <a:ext cx="8915400" cy="427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 typeface="Arial" panose="020B0604020202020204" pitchFamily="34" charset="0"/>
              <a:buNone/>
              <a:defRPr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49444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und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ßzeilenplatzhalter 8"/>
          <p:cNvSpPr>
            <a:spLocks noGrp="1"/>
          </p:cNvSpPr>
          <p:nvPr>
            <p:ph type="ftr" sz="quarter" idx="3"/>
          </p:nvPr>
        </p:nvSpPr>
        <p:spPr>
          <a:xfrm>
            <a:off x="1169895" y="6407121"/>
            <a:ext cx="44974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400">
                <a:solidFill>
                  <a:srgbClr val="00B1DB"/>
                </a:solidFill>
                <a:latin typeface="+mn-lt"/>
              </a:defRPr>
            </a:lvl1pPr>
          </a:lstStyle>
          <a:p>
            <a:r>
              <a:rPr lang="de-DE" dirty="0"/>
              <a:t>Hochschule Wismar | Fakultät für Ingenieurwissenschaften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2"/>
          </p:nvPr>
        </p:nvSpPr>
        <p:spPr>
          <a:xfrm>
            <a:off x="8610600" y="6407121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400">
                <a:solidFill>
                  <a:srgbClr val="00B1DB"/>
                </a:solidFill>
                <a:latin typeface="+mn-lt"/>
              </a:defRPr>
            </a:lvl1pPr>
          </a:lstStyle>
          <a:p>
            <a:r>
              <a:rPr lang="de-DE" dirty="0"/>
              <a:t>17.07.2026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lIns="0"/>
          <a:lstStyle>
            <a:lvl1pPr>
              <a:defRPr sz="2800">
                <a:solidFill>
                  <a:srgbClr val="5A5A5A"/>
                </a:solidFill>
                <a:latin typeface="+mn-lt"/>
              </a:defRPr>
            </a:lvl1pPr>
            <a:lvl2pPr>
              <a:defRPr sz="2400">
                <a:solidFill>
                  <a:srgbClr val="5A5A5A"/>
                </a:solidFill>
                <a:latin typeface="+mn-lt"/>
              </a:defRPr>
            </a:lvl2pPr>
            <a:lvl3pPr>
              <a:defRPr sz="2000">
                <a:solidFill>
                  <a:srgbClr val="5A5A5A"/>
                </a:solidFill>
                <a:latin typeface="+mn-lt"/>
              </a:defRPr>
            </a:lvl3pPr>
            <a:lvl4pPr>
              <a:defRPr>
                <a:solidFill>
                  <a:srgbClr val="5A5A5A"/>
                </a:solidFill>
                <a:latin typeface="+mn-lt"/>
              </a:defRPr>
            </a:lvl4pPr>
            <a:lvl5pPr>
              <a:defRPr>
                <a:solidFill>
                  <a:srgbClr val="5A5A5A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838200" y="900953"/>
            <a:ext cx="8915400" cy="830543"/>
          </a:xfrm>
          <a:prstGeom prst="rect">
            <a:avLst/>
          </a:prstGeom>
        </p:spPr>
        <p:txBody>
          <a:bodyPr lIns="0" tIns="0" rIns="0" bIns="90000" anchor="b"/>
          <a:lstStyle>
            <a:lvl1pPr>
              <a:defRPr b="1">
                <a:solidFill>
                  <a:srgbClr val="5A5A5A"/>
                </a:solidFill>
                <a:latin typeface="+mn-lt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idx="10"/>
          </p:nvPr>
        </p:nvSpPr>
        <p:spPr>
          <a:xfrm>
            <a:off x="6145307" y="1825626"/>
            <a:ext cx="5208494" cy="34734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A5A5A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6145307" y="5393210"/>
            <a:ext cx="5208493" cy="7837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800">
                <a:solidFill>
                  <a:srgbClr val="5A5A5A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rgbClr val="5A5A5A"/>
                </a:solidFill>
              </a:defRPr>
            </a:lvl2pPr>
            <a:lvl3pPr marL="914400" indent="0">
              <a:buNone/>
              <a:defRPr sz="1800">
                <a:solidFill>
                  <a:srgbClr val="5A5A5A"/>
                </a:solidFill>
              </a:defRPr>
            </a:lvl3pPr>
            <a:lvl4pPr marL="1371600" indent="0">
              <a:buNone/>
              <a:defRPr sz="1800">
                <a:solidFill>
                  <a:srgbClr val="5A5A5A"/>
                </a:solidFill>
              </a:defRPr>
            </a:lvl4pPr>
            <a:lvl5pPr marL="1828800" indent="0">
              <a:buNone/>
              <a:defRPr sz="1800">
                <a:solidFill>
                  <a:srgbClr val="5A5A5A"/>
                </a:solidFill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838200" y="156386"/>
            <a:ext cx="8915400" cy="427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 typeface="Arial" panose="020B0604020202020204" pitchFamily="34" charset="0"/>
              <a:buNone/>
              <a:defRPr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500628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ohne_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56386"/>
            <a:ext cx="8915400" cy="427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 typeface="Arial" panose="020B0604020202020204" pitchFamily="34" charset="0"/>
              <a:buNone/>
              <a:defRPr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de-DE" dirty="0"/>
              <a:t>Auskundschaften von Informationen/ OSINT-Recherche</a:t>
            </a:r>
          </a:p>
        </p:txBody>
      </p:sp>
    </p:spTree>
    <p:extLst>
      <p:ext uri="{BB962C8B-B14F-4D97-AF65-F5344CB8AC3E}">
        <p14:creationId xmlns:p14="http://schemas.microsoft.com/office/powerpoint/2010/main" val="220048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ohne_Logo_und_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171450" y="6076950"/>
            <a:ext cx="1257300" cy="781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56386"/>
            <a:ext cx="8915400" cy="42703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Font typeface="Arial" panose="020B0604020202020204" pitchFamily="34" charset="0"/>
              <a:buNone/>
              <a:defRPr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de-DE" dirty="0"/>
              <a:t>Auskundschaften von Informationen/ OSINT-Recherche</a:t>
            </a:r>
          </a:p>
        </p:txBody>
      </p:sp>
    </p:spTree>
    <p:extLst>
      <p:ext uri="{BB962C8B-B14F-4D97-AF65-F5344CB8AC3E}">
        <p14:creationId xmlns:p14="http://schemas.microsoft.com/office/powerpoint/2010/main" val="56287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171450" y="6076950"/>
            <a:ext cx="1257300" cy="781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itelplatzhalter 1"/>
          <p:cNvSpPr txBox="1">
            <a:spLocks/>
          </p:cNvSpPr>
          <p:nvPr userDrawn="1"/>
        </p:nvSpPr>
        <p:spPr>
          <a:xfrm>
            <a:off x="838199" y="104775"/>
            <a:ext cx="8153400" cy="47389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MetaBold-Roman" panose="020B0802030000020004" pitchFamily="34" charset="0"/>
                <a:ea typeface="+mj-ea"/>
                <a:cs typeface="+mj-cs"/>
              </a:defRPr>
            </a:lvl1pPr>
          </a:lstStyle>
          <a:p>
            <a:r>
              <a:rPr lang="de-DE" sz="2400" dirty="0">
                <a:solidFill>
                  <a:schemeClr val="bg1"/>
                </a:solidFill>
              </a:rPr>
              <a:t>Titelmasterformat durch Klicken bearbeiten</a:t>
            </a:r>
          </a:p>
        </p:txBody>
      </p:sp>
      <p:sp>
        <p:nvSpPr>
          <p:cNvPr id="4" name="Rechteck 3"/>
          <p:cNvSpPr/>
          <p:nvPr userDrawn="1"/>
        </p:nvSpPr>
        <p:spPr>
          <a:xfrm>
            <a:off x="0" y="-48801"/>
            <a:ext cx="12192000" cy="781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075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1290F1-5B6A-62C7-B30F-A50A1513C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FF4ACAB-4EBF-A3CE-B641-993FC3360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9C99A2-CD03-6D22-25FC-F902809A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9A918-9D0C-476B-88EA-80AD7B101907}" type="datetime1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CA8033-466A-E479-9A32-51A7A730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C0C904-9626-0AB1-B12E-B36A1BE8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1950-C8F1-4285-B64B-82721180A0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211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2" b="85911"/>
          <a:stretch/>
        </p:blipFill>
        <p:spPr>
          <a:xfrm>
            <a:off x="0" y="-24384"/>
            <a:ext cx="12192000" cy="719328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89" y="6176962"/>
            <a:ext cx="903733" cy="70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4" r:id="rId2"/>
    <p:sldLayoutId id="2147483686" r:id="rId3"/>
    <p:sldLayoutId id="2147483700" r:id="rId4"/>
    <p:sldLayoutId id="2147483668" r:id="rId5"/>
    <p:sldLayoutId id="2147483699" r:id="rId6"/>
    <p:sldLayoutId id="2147483681" r:id="rId7"/>
    <p:sldLayoutId id="2147483682" r:id="rId8"/>
    <p:sldLayoutId id="2147483685" r:id="rId9"/>
    <p:sldLayoutId id="2147483701" r:id="rId10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MetaBold-Roman" panose="020B0802030000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etaNormal-Roman" panose="020B05020301010201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etaNormal-Roman" panose="020B05020301010201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etaNormal-Roman" panose="020B05020301010201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etaNormal-Roman" panose="020B05020301010201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etaNormal-Roman" panose="020B05020301010201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DDB34-FC9C-110C-3B8A-092DF1F8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dirty="0"/>
              <a:t>Programmieren II: Escape Room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29F5CA2-5736-3D72-8EEC-D501D1CDF9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1800" dirty="0"/>
              <a:t>Nicole Hertel-Pirner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350BA03-6110-98DB-A1B5-E7AE91F41225}"/>
              </a:ext>
            </a:extLst>
          </p:cNvPr>
          <p:cNvSpPr txBox="1"/>
          <p:nvPr/>
        </p:nvSpPr>
        <p:spPr>
          <a:xfrm>
            <a:off x="370233" y="6310313"/>
            <a:ext cx="6167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5E6174D9-6A39-4DE4-BC23-08F11A5E9A20}" type="datetime1">
              <a:rPr lang="de-DE" sz="1800" smtClean="0"/>
              <a:pPr/>
              <a:t>06.10.2026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24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5C243A7-8112-823C-F696-B014A218C3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AT" b="1" dirty="0"/>
              <a:t>Goblin Log Analyzer</a:t>
            </a:r>
          </a:p>
          <a:p>
            <a:r>
              <a:rPr lang="de-AT" b="1" dirty="0" err="1"/>
              <a:t>Encrypted</a:t>
            </a:r>
            <a:r>
              <a:rPr lang="de-AT" b="1" dirty="0"/>
              <a:t> Message</a:t>
            </a:r>
          </a:p>
          <a:p>
            <a:r>
              <a:rPr lang="de-AT" b="1" dirty="0"/>
              <a:t>Stolen Data File</a:t>
            </a:r>
            <a:r>
              <a:rPr lang="de-AT" dirty="0"/>
              <a:t> </a:t>
            </a:r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BCEFD17-9E39-83BE-F816-23998E30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3 </a:t>
            </a:r>
            <a:r>
              <a:rPr lang="de-AT" dirty="0" err="1"/>
              <a:t>challenges</a:t>
            </a:r>
            <a:r>
              <a:rPr lang="de-AT" dirty="0"/>
              <a:t> </a:t>
            </a:r>
            <a:r>
              <a:rPr lang="de-AT" dirty="0" err="1"/>
              <a:t>added</a:t>
            </a:r>
            <a:endParaRPr lang="en-US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0C9AFA1-0045-C82B-3794-583DD76DB7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AT" dirty="0"/>
              <a:t>Programmieren II: Escape Room</a:t>
            </a:r>
            <a:endParaRPr lang="en-US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A7665AE-A77A-C4C1-E35B-471A4475C8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19"/>
          <a:stretch>
            <a:fillRect/>
          </a:stretch>
        </p:blipFill>
        <p:spPr>
          <a:xfrm>
            <a:off x="6658212" y="695325"/>
            <a:ext cx="3676176" cy="600628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BD0824B-7A01-0D98-13DF-51A442AEEA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44"/>
          <a:stretch>
            <a:fillRect/>
          </a:stretch>
        </p:blipFill>
        <p:spPr>
          <a:xfrm>
            <a:off x="150590" y="3300017"/>
            <a:ext cx="6507622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0A026-8857-62FC-6D78-C4039AC6A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3632F1C-2054-DCFF-A1D8-51AE66D6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de-AT" dirty="0"/>
              <a:t>Goblin Log Analyzer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BC2AD3-07DC-C6AA-6B11-07C5B94E81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AT" dirty="0"/>
              <a:t>Programmieren II: Escape Room</a:t>
            </a:r>
            <a:endParaRPr lang="en-US" dirty="0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46F80FE5-8102-3465-2235-324AF3FA1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187252"/>
              </p:ext>
            </p:extLst>
          </p:nvPr>
        </p:nvGraphicFramePr>
        <p:xfrm>
          <a:off x="838200" y="1804560"/>
          <a:ext cx="5606415" cy="40737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1180">
                  <a:extLst>
                    <a:ext uri="{9D8B030D-6E8A-4147-A177-3AD203B41FA5}">
                      <a16:colId xmlns:a16="http://schemas.microsoft.com/office/drawing/2014/main" val="1576956149"/>
                    </a:ext>
                  </a:extLst>
                </a:gridCol>
                <a:gridCol w="1557020">
                  <a:extLst>
                    <a:ext uri="{9D8B030D-6E8A-4147-A177-3AD203B41FA5}">
                      <a16:colId xmlns:a16="http://schemas.microsoft.com/office/drawing/2014/main" val="694638881"/>
                    </a:ext>
                  </a:extLst>
                </a:gridCol>
                <a:gridCol w="958215">
                  <a:extLst>
                    <a:ext uri="{9D8B030D-6E8A-4147-A177-3AD203B41FA5}">
                      <a16:colId xmlns:a16="http://schemas.microsoft.com/office/drawing/2014/main" val="3354729026"/>
                    </a:ext>
                  </a:extLst>
                </a:gridCol>
              </a:tblGrid>
              <a:tr h="4073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200" kern="100" dirty="0">
                          <a:effectLst/>
                        </a:rPr>
                        <a:t>Goblin Log Analyzer </a:t>
                      </a:r>
                    </a:p>
                    <a:p>
                      <a:pPr marL="171450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de-AT" sz="1200" kern="100" dirty="0">
                          <a:effectLst/>
                        </a:rPr>
                        <a:t>verdächtige Einträge aus einer Liste von Logevents finden</a:t>
                      </a:r>
                      <a:br>
                        <a:rPr lang="de-AT" sz="1200" kern="100" dirty="0">
                          <a:effectLst/>
                        </a:rPr>
                      </a:br>
                      <a:r>
                        <a:rPr lang="de-AT" sz="1200" kern="100" dirty="0">
                          <a:effectLst/>
                        </a:rPr>
                        <a:t>wobei dies als Listen generiert werden und nicht von einem File gelesen werden</a:t>
                      </a:r>
                    </a:p>
                    <a:p>
                      <a:pPr marL="628650" lvl="1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de-AT" sz="1200" kern="100" dirty="0">
                          <a:effectLst/>
                        </a:rPr>
                        <a:t>Version1: statische </a:t>
                      </a:r>
                      <a:r>
                        <a:rPr lang="de-AT" sz="1200" kern="100" dirty="0" err="1">
                          <a:effectLst/>
                        </a:rPr>
                        <a:t>IP-und</a:t>
                      </a:r>
                      <a:r>
                        <a:rPr lang="de-AT" sz="1200" kern="100" dirty="0">
                          <a:effectLst/>
                        </a:rPr>
                        <a:t> Log-einträge </a:t>
                      </a:r>
                      <a:r>
                        <a:rPr lang="de-AT" sz="1200" kern="100" dirty="0" err="1">
                          <a:effectLst/>
                        </a:rPr>
                        <a:t>generierung</a:t>
                      </a:r>
                      <a:endParaRPr lang="de-AT" sz="1200" kern="100" dirty="0">
                        <a:effectLst/>
                      </a:endParaRPr>
                    </a:p>
                    <a:p>
                      <a:pPr marL="628650" lvl="1" indent="-17145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de-AT" sz="1200" kern="100" dirty="0">
                          <a:effectLst/>
                        </a:rPr>
                        <a:t>Version2: dynamische  </a:t>
                      </a:r>
                      <a:r>
                        <a:rPr lang="de-AT" sz="1200" kern="100" dirty="0" err="1">
                          <a:effectLst/>
                        </a:rPr>
                        <a:t>IP-und</a:t>
                      </a:r>
                      <a:r>
                        <a:rPr lang="de-AT" sz="1200" kern="100" dirty="0">
                          <a:effectLst/>
                        </a:rPr>
                        <a:t> Log-einträge Generierung und Speicherung derselben in 2 </a:t>
                      </a:r>
                      <a:r>
                        <a:rPr lang="de-AT" sz="1200" kern="100" dirty="0" err="1">
                          <a:effectLst/>
                        </a:rPr>
                        <a:t>txt</a:t>
                      </a:r>
                      <a:r>
                        <a:rPr lang="de-AT" sz="1200" kern="100" dirty="0">
                          <a:effectLst/>
                        </a:rPr>
                        <a:t>-files unter ./</a:t>
                      </a:r>
                      <a:r>
                        <a:rPr lang="de-AT" sz="1200" kern="100" dirty="0" err="1">
                          <a:effectLst/>
                        </a:rPr>
                        <a:t>WorkFiles</a:t>
                      </a:r>
                      <a:r>
                        <a:rPr lang="de-AT" sz="1200" kern="100" dirty="0">
                          <a:effectLst/>
                        </a:rPr>
                        <a:t> – Falls die Files existieren und </a:t>
                      </a:r>
                      <a:r>
                        <a:rPr lang="de-AT" sz="1200" kern="100" dirty="0" err="1">
                          <a:effectLst/>
                        </a:rPr>
                        <a:t>Dten</a:t>
                      </a:r>
                      <a:r>
                        <a:rPr lang="de-AT" sz="1200" kern="100" dirty="0">
                          <a:effectLst/>
                        </a:rPr>
                        <a:t> beinhalten, werden diese genommen, ansonsten dynamisch generiert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Listen</a:t>
                      </a:r>
                    </a:p>
                    <a:p>
                      <a:pPr lvl="0"/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for-</a:t>
                      </a:r>
                      <a:r>
                        <a:rPr lang="en-US" sz="14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Schleifen</a:t>
                      </a:r>
                      <a:endParaRPr lang="en-US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if-</a:t>
                      </a:r>
                      <a:r>
                        <a:rPr lang="en-US" sz="14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Bedingungen</a:t>
                      </a:r>
                      <a:endParaRPr lang="en-US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Dictionaries</a:t>
                      </a:r>
                    </a:p>
                    <a:p>
                      <a:pPr lvl="0"/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String-</a:t>
                      </a:r>
                      <a:r>
                        <a:rPr lang="en-US" sz="14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Verarbeitung</a:t>
                      </a:r>
                      <a:endParaRPr lang="en-US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split()</a:t>
                      </a:r>
                    </a:p>
                    <a:p>
                      <a:pPr lvl="0"/>
                      <a:r>
                        <a:rPr lang="en-US" sz="14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Zähler</a:t>
                      </a:r>
                      <a:endParaRPr lang="en-US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400" b="0" i="0" kern="1200" dirty="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Dateioperationen</a:t>
                      </a:r>
                      <a:endParaRPr lang="en-US" sz="1400" b="0" i="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400" b="0" i="0" kern="1200" dirty="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dynamische</a:t>
                      </a:r>
                      <a:r>
                        <a:rPr lang="en-US" sz="1400" b="0" i="0" kern="12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0" i="0" kern="1200" dirty="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Datengenerierung</a:t>
                      </a:r>
                      <a:endParaRPr lang="en-US" sz="1400" b="0" i="0" kern="1200" dirty="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4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einfache</a:t>
                      </a:r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Log-</a:t>
                      </a:r>
                      <a:r>
                        <a:rPr lang="en-US" sz="14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Analyse</a:t>
                      </a:r>
                      <a:endParaRPr lang="en-US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Mittel – v1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en-US" sz="1200" kern="100" dirty="0">
                          <a:effectLst/>
                        </a:rPr>
                        <a:t>complex v2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454337"/>
                  </a:ext>
                </a:extLst>
              </a:tr>
            </a:tbl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153E8259-D76C-75E9-9430-B1C31DBAA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10" y="5951349"/>
            <a:ext cx="2636748" cy="63251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D2D5ED3-AF8F-3DAD-B333-E8CA85A95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15" y="1599219"/>
            <a:ext cx="5287078" cy="376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58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F9DB-7662-C00A-8266-52D16AF3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E626845-9AA1-407D-DC5C-BF4034B5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29" y="471653"/>
            <a:ext cx="8915400" cy="830543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de-AT" dirty="0" err="1"/>
              <a:t>Encrypted</a:t>
            </a:r>
            <a:r>
              <a:rPr lang="de-AT" dirty="0"/>
              <a:t> Message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7A44D63-A75D-7E2E-E4B9-2CE5F1D7E8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AT" dirty="0"/>
              <a:t>Programmieren II: Escape Room</a:t>
            </a:r>
            <a:endParaRPr lang="en-US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D71A2051-164C-E483-3B8F-3376E27F3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02083"/>
              </p:ext>
            </p:extLst>
          </p:nvPr>
        </p:nvGraphicFramePr>
        <p:xfrm>
          <a:off x="509981" y="1302196"/>
          <a:ext cx="5606415" cy="17277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1180">
                  <a:extLst>
                    <a:ext uri="{9D8B030D-6E8A-4147-A177-3AD203B41FA5}">
                      <a16:colId xmlns:a16="http://schemas.microsoft.com/office/drawing/2014/main" val="1537779598"/>
                    </a:ext>
                  </a:extLst>
                </a:gridCol>
                <a:gridCol w="1557020">
                  <a:extLst>
                    <a:ext uri="{9D8B030D-6E8A-4147-A177-3AD203B41FA5}">
                      <a16:colId xmlns:a16="http://schemas.microsoft.com/office/drawing/2014/main" val="3941833784"/>
                    </a:ext>
                  </a:extLst>
                </a:gridCol>
                <a:gridCol w="958215">
                  <a:extLst>
                    <a:ext uri="{9D8B030D-6E8A-4147-A177-3AD203B41FA5}">
                      <a16:colId xmlns:a16="http://schemas.microsoft.com/office/drawing/2014/main" val="87525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200" kern="100" dirty="0" err="1">
                          <a:effectLst/>
                        </a:rPr>
                        <a:t>Encrypted</a:t>
                      </a:r>
                      <a:r>
                        <a:rPr lang="de-AT" sz="1200" kern="100" dirty="0">
                          <a:effectLst/>
                        </a:rPr>
                        <a:t> Message – Nachricht des Kobolds entschlüsseln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 kern="100" dirty="0">
                          <a:effectLst/>
                        </a:rPr>
                        <a:t>“</a:t>
                      </a:r>
                      <a:r>
                        <a:rPr lang="en-US" sz="1200" kern="100" dirty="0" err="1">
                          <a:effectLst/>
                        </a:rPr>
                        <a:t>Verschlüsselung</a:t>
                      </a:r>
                      <a:r>
                        <a:rPr lang="en-US" sz="1200" kern="100" dirty="0">
                          <a:effectLst/>
                        </a:rPr>
                        <a:t>”, </a:t>
                      </a:r>
                      <a:r>
                        <a:rPr lang="en-US" sz="1200" kern="100" dirty="0" err="1">
                          <a:effectLst/>
                        </a:rPr>
                        <a:t>Funktionen</a:t>
                      </a:r>
                      <a:r>
                        <a:rPr lang="en-US" sz="1200" kern="100" dirty="0">
                          <a:effectLst/>
                        </a:rPr>
                        <a:t>, 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en-US" sz="11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split()</a:t>
                      </a:r>
                    </a:p>
                    <a:p>
                      <a:pPr lvl="0"/>
                      <a:r>
                        <a:rPr lang="en-US" sz="11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Integer-</a:t>
                      </a:r>
                      <a:r>
                        <a:rPr lang="en-US" sz="11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Konvertierung</a:t>
                      </a:r>
                      <a:endParaRPr lang="en-US" sz="11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1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Modulo %</a:t>
                      </a:r>
                    </a:p>
                    <a:p>
                      <a:pPr lvl="0"/>
                      <a:r>
                        <a:rPr lang="en-US" sz="9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String-Rotation</a:t>
                      </a:r>
                      <a:br>
                        <a:rPr lang="en-US" sz="11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Verarbeitung</a:t>
                      </a:r>
                      <a:r>
                        <a:rPr lang="en-US" sz="11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 </a:t>
                      </a:r>
                      <a:r>
                        <a:rPr lang="en-US" sz="11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Ergebnisses</a:t>
                      </a:r>
                      <a:r>
                        <a:rPr lang="en-US" sz="11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einer</a:t>
                      </a:r>
                      <a:r>
                        <a:rPr lang="en-US" sz="11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vorherigen</a:t>
                      </a:r>
                      <a:r>
                        <a:rPr lang="en-US" sz="11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Challenge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mittel</a:t>
                      </a:r>
                      <a:r>
                        <a:rPr lang="en-US" sz="1200" kern="100" dirty="0">
                          <a:effectLst/>
                        </a:rPr>
                        <a:t>+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21449854"/>
                  </a:ext>
                </a:extLst>
              </a:tr>
            </a:tbl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8A3223BF-BC51-6194-D5E6-C03CF8FE1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187" y="2768647"/>
            <a:ext cx="4838195" cy="422765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691E2F7-783A-6F84-73FF-5AF6307B0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368" y="2332935"/>
            <a:ext cx="4549534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9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532C-529D-0DF7-DD4E-49F36396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1F4C205-FF80-1E88-1843-94E78E1C2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29" y="471653"/>
            <a:ext cx="8915400" cy="830543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de-AT" dirty="0" err="1"/>
              <a:t>Encrypted</a:t>
            </a:r>
            <a:r>
              <a:rPr lang="de-AT" dirty="0"/>
              <a:t> Message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1CBB991-402E-A34C-7934-309DC7A9B2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AT" dirty="0"/>
              <a:t>Programmieren II: Escape Room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42083AD-73CB-A07C-EEB9-CBF4210EB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631" y="1302196"/>
            <a:ext cx="8748518" cy="550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48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4E80-16FC-BA1D-B8FA-18F93F79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FAEF854-7811-3839-4FE8-DB501CB5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0397"/>
            <a:ext cx="8915400" cy="830543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de-AT" dirty="0"/>
              <a:t>Stolen Data File </a:t>
            </a:r>
            <a:endParaRPr lang="en-US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85A7392-1592-305D-65C7-D0B9744D78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AT" dirty="0"/>
              <a:t>Programmieren II: Escape Room</a:t>
            </a:r>
            <a:endParaRPr lang="en-US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7154A7AE-3E97-DB36-8AF7-0DF48D020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059047"/>
              </p:ext>
            </p:extLst>
          </p:nvPr>
        </p:nvGraphicFramePr>
        <p:xfrm>
          <a:off x="754866" y="1507476"/>
          <a:ext cx="5606415" cy="15905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1180">
                  <a:extLst>
                    <a:ext uri="{9D8B030D-6E8A-4147-A177-3AD203B41FA5}">
                      <a16:colId xmlns:a16="http://schemas.microsoft.com/office/drawing/2014/main" val="3528960043"/>
                    </a:ext>
                  </a:extLst>
                </a:gridCol>
                <a:gridCol w="1705668">
                  <a:extLst>
                    <a:ext uri="{9D8B030D-6E8A-4147-A177-3AD203B41FA5}">
                      <a16:colId xmlns:a16="http://schemas.microsoft.com/office/drawing/2014/main" val="4042686821"/>
                    </a:ext>
                  </a:extLst>
                </a:gridCol>
                <a:gridCol w="809567">
                  <a:extLst>
                    <a:ext uri="{9D8B030D-6E8A-4147-A177-3AD203B41FA5}">
                      <a16:colId xmlns:a16="http://schemas.microsoft.com/office/drawing/2014/main" val="2198076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AT" sz="1200" kern="100" dirty="0">
                          <a:effectLst/>
                        </a:rPr>
                        <a:t>Stolen Data File – manipulierte Datensätze in CSV/JSON finden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 kern="100" dirty="0" err="1">
                          <a:effectLst/>
                        </a:rPr>
                        <a:t>Dateihandling</a:t>
                      </a:r>
                      <a:r>
                        <a:rPr lang="en-US" sz="1200" kern="100" dirty="0">
                          <a:effectLst/>
                        </a:rPr>
                        <a:t> JSON, CSV),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en-US" sz="1200" kern="100" dirty="0">
                          <a:effectLst/>
                        </a:rPr>
                        <a:t>Dictionaries,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en-US" sz="1200" kern="100" dirty="0">
                          <a:effectLst/>
                        </a:rPr>
                        <a:t> Exception Handling,</a:t>
                      </a:r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Plausibilitätsprüfung</a:t>
                      </a:r>
                    </a:p>
                    <a:p>
                      <a:pPr lvl="0"/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Datenqualität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0"/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algorithmische</a:t>
                      </a:r>
                      <a:r>
                        <a:rPr lang="en-US" sz="1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Validierung</a:t>
                      </a:r>
                      <a:endParaRPr lang="en-US" sz="12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komplex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92645942"/>
                  </a:ext>
                </a:extLst>
              </a:tr>
            </a:tbl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8C0C8ABD-154E-9392-9046-83D6D9E4C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568" y="2981130"/>
            <a:ext cx="7307995" cy="394892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F1AC4A7-3B23-A5CB-1718-67BD09411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54" y="3225396"/>
            <a:ext cx="2377646" cy="92972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8BE0A93-AE55-B01C-C16B-23FCA5C1B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571" y="369905"/>
            <a:ext cx="4953429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56127"/>
      </p:ext>
    </p:extLst>
  </p:cSld>
  <p:clrMapOvr>
    <a:masterClrMapping/>
  </p:clrMapOvr>
</p:sld>
</file>

<file path=ppt/theme/theme1.xml><?xml version="1.0" encoding="utf-8"?>
<a:theme xmlns:a="http://schemas.openxmlformats.org/drawingml/2006/main" name="Tite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252488118F86345936081FD0525F61A" ma:contentTypeVersion="17" ma:contentTypeDescription="Ein neues Dokument erstellen." ma:contentTypeScope="" ma:versionID="7b894c7784cbeda9e71dc75bd32a4156">
  <xsd:schema xmlns:xsd="http://www.w3.org/2001/XMLSchema" xmlns:xs="http://www.w3.org/2001/XMLSchema" xmlns:p="http://schemas.microsoft.com/office/2006/metadata/properties" xmlns:ns3="42e32240-c829-4d4e-ac8e-7b74dbf025b2" xmlns:ns4="eba078d6-a0db-4965-b8e8-4e971c003a8d" targetNamespace="http://schemas.microsoft.com/office/2006/metadata/properties" ma:root="true" ma:fieldsID="76ff8c32166d6810cd45f6efa57e41a1" ns3:_="" ns4:_="">
    <xsd:import namespace="42e32240-c829-4d4e-ac8e-7b74dbf025b2"/>
    <xsd:import namespace="eba078d6-a0db-4965-b8e8-4e971c003a8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e32240-c829-4d4e-ac8e-7b74dbf025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078d6-a0db-4965-b8e8-4e971c003a8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e32240-c829-4d4e-ac8e-7b74dbf025b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5F0D84-73E8-4C0C-A1E9-5E06FA8511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e32240-c829-4d4e-ac8e-7b74dbf025b2"/>
    <ds:schemaRef ds:uri="eba078d6-a0db-4965-b8e8-4e971c003a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0E56C7-9E5B-46C0-8812-A932EBF4C4DA}">
  <ds:schemaRefs>
    <ds:schemaRef ds:uri="http://www.w3.org/XML/1998/namespace"/>
    <ds:schemaRef ds:uri="42e32240-c829-4d4e-ac8e-7b74dbf025b2"/>
    <ds:schemaRef ds:uri="eba078d6-a0db-4965-b8e8-4e971c003a8d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6D7BA12D-AE53-4A1D-BFAE-3A21174C61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192</Words>
  <Application>Microsoft Office PowerPoint</Application>
  <PresentationFormat>Breitbild</PresentationFormat>
  <Paragraphs>42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MetaBold-Roman</vt:lpstr>
      <vt:lpstr>MetaNormal-Roman</vt:lpstr>
      <vt:lpstr>Wingdings</vt:lpstr>
      <vt:lpstr>Titel</vt:lpstr>
      <vt:lpstr>Programmieren II: Escape Room</vt:lpstr>
      <vt:lpstr>3 challenges added</vt:lpstr>
      <vt:lpstr>Goblin Log Analyzer</vt:lpstr>
      <vt:lpstr>Encrypted Message</vt:lpstr>
      <vt:lpstr>Encrypted Message</vt:lpstr>
      <vt:lpstr>Stolen Data File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Ausstattung der Hochschulen für den Auf- und Ausbau des Forschungsbereiches Künstliche Intelligenz</dc:title>
  <dc:creator>Ingo Müller</dc:creator>
  <cp:lastModifiedBy>Nicole Hertel</cp:lastModifiedBy>
  <cp:revision>312</cp:revision>
  <dcterms:created xsi:type="dcterms:W3CDTF">2022-05-04T13:53:12Z</dcterms:created>
  <dcterms:modified xsi:type="dcterms:W3CDTF">2026-10-06T19:24:57Z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0x010100C252488118F86345936081FD0525F61A</vt:lpwstr>
  </property>
</Properties>
</file>